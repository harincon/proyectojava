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2514-741F-6717-56E1-428E12C28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0F8A-1B3B-C054-751A-A06362262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7D7D-9162-5FFF-EABA-252A5454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93D5B-3BB0-889F-CCFE-646B0F4A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48D2-7DB7-4BFD-AA9E-BF183623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71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A4DC-308E-0473-0682-04FB46DC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0B2FD-839F-A274-E87C-93DB2AAB5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73387-CD4A-1956-7CD2-DFD31911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B908-27F6-FA5C-C7DA-36D9DA4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63390-CA86-FCA6-0358-7EC00D35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4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511C-CC99-F269-2C91-3D143CA0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83373-5626-4596-73A2-D238AB32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7A49-C187-0C31-4810-444E1CF1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11B92-A8CF-1288-20BE-D1CF4C04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9C1F0-0AF5-2E4A-46F0-FA7EA433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233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8450-3B17-7FA8-D82D-AAA0864B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A02C-28A4-5DCF-E165-ED7D91192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D23BB-5C14-797D-7138-0A0C9D7D8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36FF9-44C6-0715-2C75-0B2BA463A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06BFA-3752-0510-F954-CA66C291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43149-0C9B-67DD-C4E5-4B054EC7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672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333F-4038-4FC1-D63E-175BE87D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45FEC-D465-2884-3ACF-D7E09C28D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7C158-0029-D7A5-5AE1-4F5BEF41B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9C8B2-A39B-0699-621C-B5747D641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4AABB-6667-79D3-B05D-2D5D0A4C9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69891-64E6-73E1-E0B5-B8A34E81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5FBFE-9DF4-AE0B-DB9F-A157B488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33842-4DCC-4011-8C03-729A4500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132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5F93-3D3F-D1D6-E848-FD77D7C6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A0DA6-0A30-5313-EE63-EFD6CCC8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27F1-93B7-4A35-EF60-3C128259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69B14-8273-039D-66F1-34E121C8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653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02741-9A1F-E9AC-E379-22AA87A9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06FF1-05DC-40F6-3B33-FE76A217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67238-8A90-1E09-7ED0-672C5B6A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27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86F-5D16-525E-4DDB-35CFBAA9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B960-93E8-F8E5-B347-28268073C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7A5E6-64F3-783A-2DD8-4A37A3F4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245D1-55F8-BDBA-1776-8FDE0361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58974-BCCC-3A85-5EBE-8AA8FA59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96E4F-1407-D310-EC0B-5556206B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616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4DE2-44F4-358B-5C4C-283E38E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0A95F-86DC-3255-AC1F-9F4EE39B9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8F655-743D-B704-89F4-5C077A57F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EA210-51F0-9979-CA87-42C40CE8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1A721-0F30-9DE4-6BD8-4E9A9AF8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CD261-FF4C-EB1B-09A3-28C2E0A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945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D494-BE7F-9921-65F3-16E7B3C1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474DF-0A8D-D5B1-7D51-0D1554144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84E5-1689-175D-8FB8-A160E18A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4E333-9B6F-DC33-13F2-28FF7E36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1BAD6-8379-2813-223D-E3153F4B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2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B0223-684D-D27C-6F55-298F2D0B5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9D44D-11DF-02CD-949A-E8B23ACC8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2911-AD60-0B1C-2E44-78C94C8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FE6E2-7F96-1813-EE43-2C872EE9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ACD2-94D6-F89A-BA6D-158F9C5F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472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F047-6E6D-E3A7-62AC-D0206467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BAB42-A7D1-0926-6299-3A1974AF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D74BD-6C63-8AD1-EA50-87D71F102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6F3FF-059B-42FD-92EF-03BDA7FF593F}" type="datetimeFigureOut">
              <a:rPr lang="es-CO" smtClean="0"/>
              <a:t>16/09/2026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4F33E-FD03-8630-0391-360A36BC0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BD4B-F799-1539-6102-FE689286E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A7396-969C-457D-A64C-1A034597E2D9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71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AFA28F-6237-2E79-486A-56B0ADA95D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04476"/>
            <a:ext cx="5842000" cy="3849048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EF8F68-A65D-F8E2-22BE-563A83090DB4}"/>
              </a:ext>
            </a:extLst>
          </p:cNvPr>
          <p:cNvSpPr txBox="1"/>
          <p:nvPr/>
        </p:nvSpPr>
        <p:spPr>
          <a:xfrm>
            <a:off x="698500" y="889000"/>
            <a:ext cx="457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300" b="1">
                <a:solidFill>
                  <a:srgbClr val="C96E4B"/>
                </a:solidFill>
                <a:latin typeface="Aptos" panose="020B0004020202020204" pitchFamily="34" charset="0"/>
              </a:rPr>
              <a:t>HABITA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35861-27B5-2577-5FFA-4599B13A5BF8}"/>
              </a:ext>
            </a:extLst>
          </p:cNvPr>
          <p:cNvSpPr txBox="1"/>
          <p:nvPr/>
        </p:nvSpPr>
        <p:spPr>
          <a:xfrm>
            <a:off x="698500" y="1422400"/>
            <a:ext cx="5080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3800" b="1">
                <a:solidFill>
                  <a:srgbClr val="FFFDF8"/>
                </a:solidFill>
                <a:latin typeface="Georgia" panose="02040502050405020303" pitchFamily="18" charset="0"/>
              </a:rPr>
              <a:t>Gestión web para una inmobiliaria</a:t>
            </a:r>
            <a:endParaRPr lang="es-CO" sz="3800" b="1">
              <a:solidFill>
                <a:srgbClr val="FFFDF8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BBB23-4123-5B25-DD95-9EA765E33E9B}"/>
              </a:ext>
            </a:extLst>
          </p:cNvPr>
          <p:cNvSpPr txBox="1"/>
          <p:nvPr/>
        </p:nvSpPr>
        <p:spPr>
          <a:xfrm>
            <a:off x="698500" y="3873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>
                <a:solidFill>
                  <a:srgbClr val="E8D8C4"/>
                </a:solidFill>
                <a:latin typeface="Aptos" panose="020B0004020202020204" pitchFamily="34" charset="0"/>
              </a:rPr>
              <a:t>JSP · JSPF · JDBC · PostgreSQL · Tomcat 8.5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88F40-0CB0-F5C3-E014-439526D458C0}"/>
              </a:ext>
            </a:extLst>
          </p:cNvPr>
          <p:cNvSpPr txBox="1"/>
          <p:nvPr/>
        </p:nvSpPr>
        <p:spPr>
          <a:xfrm>
            <a:off x="698500" y="5016500"/>
            <a:ext cx="5016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FFFDF8"/>
                </a:solidFill>
                <a:latin typeface="Aptos" panose="020B0004020202020204" pitchFamily="34" charset="0"/>
              </a:rPr>
              <a:t>Integración, pruebas y documentación final</a:t>
            </a:r>
            <a:endParaRPr lang="es-CO" sz="2000">
              <a:solidFill>
                <a:srgbClr val="FFFDF8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37B04-BD1B-4903-4FCA-3E61302752C0}"/>
              </a:ext>
            </a:extLst>
          </p:cNvPr>
          <p:cNvSpPr txBox="1"/>
          <p:nvPr/>
        </p:nvSpPr>
        <p:spPr>
          <a:xfrm>
            <a:off x="698500" y="62230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100">
                <a:solidFill>
                  <a:srgbClr val="E8D8C4"/>
                </a:solidFill>
                <a:latin typeface="Aptos" panose="020B0004020202020204" pitchFamily="34" charset="0"/>
              </a:rPr>
              <a:t>16 de septiembre de 2026</a:t>
            </a:r>
            <a:endParaRPr lang="es-CO" sz="1100">
              <a:solidFill>
                <a:srgbClr val="E8D8C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23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74F470-70BD-C209-A9FF-3DBCCE656620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PRESENTACIÓN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67CE9-AE53-9A49-6027-A1D6A65A80BF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Alcance del proyecto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94E45-4617-A601-266C-90C56B05F530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90EF2-492D-0D18-E44F-99D8F2C04BB2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0ADDA-100D-49C1-9BAA-786C15A2879A}"/>
              </a:ext>
            </a:extLst>
          </p:cNvPr>
          <p:cNvSpPr txBox="1"/>
          <p:nvPr/>
        </p:nvSpPr>
        <p:spPr>
          <a:xfrm>
            <a:off x="584200" y="1422400"/>
            <a:ext cx="508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400" b="1">
                <a:solidFill>
                  <a:srgbClr val="252525"/>
                </a:solidFill>
                <a:latin typeface="Georgia" panose="02040502050405020303" pitchFamily="18" charset="0"/>
              </a:rPr>
              <a:t>Habita permite publicar, buscar y tramitar propiedades con permisos diferenciados.</a:t>
            </a:r>
            <a:endParaRPr lang="es-CO" sz="2400" b="1">
              <a:solidFill>
                <a:srgbClr val="252525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5DCA-A798-6967-B5AA-67AB7311D610}"/>
              </a:ext>
            </a:extLst>
          </p:cNvPr>
          <p:cNvSpPr txBox="1"/>
          <p:nvPr/>
        </p:nvSpPr>
        <p:spPr>
          <a:xfrm>
            <a:off x="584200" y="2603500"/>
            <a:ext cx="4953000" cy="17953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252525"/>
                </a:solidFill>
                <a:latin typeface="Aptos" panose="020B0004020202020204" pitchFamily="34" charset="0"/>
              </a:rPr>
              <a:t>• Catálogo público con filtros y detalle
• Registro, sesión y perfiles
• Propiedades, favoritos y citas
• Solicitudes con documentos privados
• Reportes y auditoría</a:t>
            </a:r>
            <a:endParaRPr lang="es-CO" sz="20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705AE-FC8E-3F3C-CF02-5A1A82D3DE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88738"/>
            <a:ext cx="5461000" cy="3598023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</p:spTree>
    <p:extLst>
      <p:ext uri="{BB962C8B-B14F-4D97-AF65-F5344CB8AC3E}">
        <p14:creationId xmlns:p14="http://schemas.microsoft.com/office/powerpoint/2010/main" val="55022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31B63-91CA-4EF8-5F5A-6648CC91772D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REQUISITOS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259E4-7176-A8E6-4D4E-0EE1281896FA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900" b="1">
                <a:solidFill>
                  <a:srgbClr val="243B32"/>
                </a:solidFill>
                <a:latin typeface="Georgia" panose="02040502050405020303" pitchFamily="18" charset="0"/>
              </a:rPr>
              <a:t>Roles y control de acceso</a:t>
            </a:r>
            <a:endParaRPr lang="es-CO" sz="2900" b="1">
              <a:solidFill>
                <a:srgbClr val="243B32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7E522-C26F-5E28-B592-5E39F10D8C4B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248D9-7F15-A017-8BDA-BA85D227C774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E7958-1BE5-3296-E9B2-CBA1CCFE1B8E}"/>
              </a:ext>
            </a:extLst>
          </p:cNvPr>
          <p:cNvSpPr txBox="1"/>
          <p:nvPr/>
        </p:nvSpPr>
        <p:spPr>
          <a:xfrm>
            <a:off x="584200" y="1498600"/>
            <a:ext cx="241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100" b="1">
                <a:solidFill>
                  <a:srgbClr val="243B32"/>
                </a:solidFill>
                <a:latin typeface="Georgia" panose="02040502050405020303" pitchFamily="18" charset="0"/>
              </a:rPr>
              <a:t>Visitante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96EA0-99E4-04A0-160A-02E35A07533E}"/>
              </a:ext>
            </a:extLst>
          </p:cNvPr>
          <p:cNvSpPr txBox="1"/>
          <p:nvPr/>
        </p:nvSpPr>
        <p:spPr>
          <a:xfrm>
            <a:off x="584200" y="1905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600">
                <a:solidFill>
                  <a:srgbClr val="252525"/>
                </a:solidFill>
                <a:latin typeface="Aptos" panose="020B0004020202020204" pitchFamily="34" charset="0"/>
              </a:rPr>
              <a:t>Inicio, catálogo y detalle público.</a:t>
            </a:r>
            <a:endParaRPr lang="es-CO" sz="16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96B23-7B34-D8F5-12AF-18174D4D35B4}"/>
              </a:ext>
            </a:extLst>
          </p:cNvPr>
          <p:cNvSpPr txBox="1"/>
          <p:nvPr/>
        </p:nvSpPr>
        <p:spPr>
          <a:xfrm>
            <a:off x="584200" y="2857500"/>
            <a:ext cx="241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100" b="1">
                <a:solidFill>
                  <a:srgbClr val="243B32"/>
                </a:solidFill>
                <a:latin typeface="Georgia" panose="02040502050405020303" pitchFamily="18" charset="0"/>
              </a:rPr>
              <a:t>Cliente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3314B-D5AF-21E2-429D-DDD427E27EDE}"/>
              </a:ext>
            </a:extLst>
          </p:cNvPr>
          <p:cNvSpPr txBox="1"/>
          <p:nvPr/>
        </p:nvSpPr>
        <p:spPr>
          <a:xfrm>
            <a:off x="584200" y="3263900"/>
            <a:ext cx="241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600">
                <a:solidFill>
                  <a:srgbClr val="252525"/>
                </a:solidFill>
                <a:latin typeface="Aptos" panose="020B0004020202020204" pitchFamily="34" charset="0"/>
              </a:rPr>
              <a:t>Favoritos, citas, solicitudes, documentos y perfil.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30AC7-AE0A-05DC-40BA-FE7BE73E43DF}"/>
              </a:ext>
            </a:extLst>
          </p:cNvPr>
          <p:cNvSpPr txBox="1"/>
          <p:nvPr/>
        </p:nvSpPr>
        <p:spPr>
          <a:xfrm>
            <a:off x="3238500" y="1498600"/>
            <a:ext cx="241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100" b="1">
                <a:solidFill>
                  <a:srgbClr val="243B32"/>
                </a:solidFill>
                <a:latin typeface="Georgia" panose="02040502050405020303" pitchFamily="18" charset="0"/>
              </a:rPr>
              <a:t>Inmobiliaria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1CBAC-6A6C-E7C4-B646-1C490B797AA7}"/>
              </a:ext>
            </a:extLst>
          </p:cNvPr>
          <p:cNvSpPr txBox="1"/>
          <p:nvPr/>
        </p:nvSpPr>
        <p:spPr>
          <a:xfrm>
            <a:off x="3238500" y="1905000"/>
            <a:ext cx="241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600">
                <a:solidFill>
                  <a:srgbClr val="252525"/>
                </a:solidFill>
                <a:latin typeface="Aptos" panose="020B0004020202020204" pitchFamily="34" charset="0"/>
              </a:rPr>
              <a:t>Empresa, propiedades, revisiones y reportes propios.</a:t>
            </a:r>
            <a:endParaRPr lang="es-CO" sz="16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EF1F72-90EB-1E6E-60D1-E29E3B3BE7F4}"/>
              </a:ext>
            </a:extLst>
          </p:cNvPr>
          <p:cNvSpPr txBox="1"/>
          <p:nvPr/>
        </p:nvSpPr>
        <p:spPr>
          <a:xfrm>
            <a:off x="3238500" y="3111500"/>
            <a:ext cx="241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100" b="1">
                <a:solidFill>
                  <a:srgbClr val="243B32"/>
                </a:solidFill>
                <a:latin typeface="Georgia" panose="02040502050405020303" pitchFamily="18" charset="0"/>
              </a:rPr>
              <a:t>Administrador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F3CE0-A2A9-B007-3551-E6B006E829EA}"/>
              </a:ext>
            </a:extLst>
          </p:cNvPr>
          <p:cNvSpPr txBox="1"/>
          <p:nvPr/>
        </p:nvSpPr>
        <p:spPr>
          <a:xfrm>
            <a:off x="3238500" y="3517900"/>
            <a:ext cx="241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600">
                <a:solidFill>
                  <a:srgbClr val="252525"/>
                </a:solidFill>
                <a:latin typeface="Aptos" panose="020B0004020202020204" pitchFamily="34" charset="0"/>
              </a:rPr>
              <a:t>Usuarios, roles, catálogos, reportes generales y auditoría.</a:t>
            </a:r>
            <a:endParaRPr lang="es-CO" sz="16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91E9BE-BC2B-3337-D54E-35FB2051FE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0" y="1672570"/>
            <a:ext cx="5524500" cy="3639861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73C453-FEE1-F615-55BA-51892319C741}"/>
              </a:ext>
            </a:extLst>
          </p:cNvPr>
          <p:cNvSpPr txBox="1"/>
          <p:nvPr/>
        </p:nvSpPr>
        <p:spPr>
          <a:xfrm>
            <a:off x="6032500" y="5791200"/>
            <a:ext cx="552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400">
                <a:solidFill>
                  <a:srgbClr val="5F665F"/>
                </a:solidFill>
                <a:latin typeface="Aptos" panose="020B0004020202020204" pitchFamily="34" charset="0"/>
              </a:rPr>
              <a:t>La interfaz oculta opciones por rol y el servidor vuelve a validar sesión, rol y pertenencia.</a:t>
            </a:r>
            <a:endParaRPr lang="es-CO" sz="1400">
              <a:solidFill>
                <a:srgbClr val="5F66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05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E4B10-035C-D47D-2E37-D355866987F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BASE DE DATOS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EDB66-031A-BD15-45B0-5511B1F77D90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Modelo de datos normalizado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7A13-E8B2-7272-AE1D-E30844DF51CC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D3924-8A2F-2F48-BF34-3DD0EDD3F998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A72C3-8281-9132-ECBF-7EECEEBD1C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150800"/>
            <a:ext cx="8191500" cy="3254901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8D8679-81A9-FBFE-CA59-5F7BA670788E}"/>
              </a:ext>
            </a:extLst>
          </p:cNvPr>
          <p:cNvSpPr txBox="1"/>
          <p:nvPr/>
        </p:nvSpPr>
        <p:spPr>
          <a:xfrm>
            <a:off x="9144000" y="14986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800" b="1">
                <a:solidFill>
                  <a:srgbClr val="C96E4B"/>
                </a:solidFill>
                <a:latin typeface="Georgia" panose="02040502050405020303" pitchFamily="18" charset="0"/>
              </a:rPr>
              <a:t>16 tablas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535BE-4EE6-2309-F51E-9342E0A17BEC}"/>
              </a:ext>
            </a:extLst>
          </p:cNvPr>
          <p:cNvSpPr txBox="1"/>
          <p:nvPr/>
        </p:nvSpPr>
        <p:spPr>
          <a:xfrm>
            <a:off x="9144000" y="2222500"/>
            <a:ext cx="2413000" cy="31931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1:1
usuario y perfil
1:N
inmobiliaria y propiedad
propiedad e imagen
N:M
usuario y rol
propiedad y característica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15802-D907-1FA1-6FA8-33AA4C75CDEE}"/>
              </a:ext>
            </a:extLst>
          </p:cNvPr>
          <p:cNvSpPr txBox="1"/>
          <p:nvPr/>
        </p:nvSpPr>
        <p:spPr>
          <a:xfrm>
            <a:off x="9144000" y="5334000"/>
            <a:ext cx="241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300">
                <a:solidFill>
                  <a:srgbClr val="5F665F"/>
                </a:solidFill>
                <a:latin typeface="Aptos" panose="020B0004020202020204" pitchFamily="34" charset="0"/>
              </a:rPr>
              <a:t>3FN separa credenciales, datos personales, catálogos y operación.</a:t>
            </a:r>
            <a:endParaRPr lang="es-CO" sz="1300">
              <a:solidFill>
                <a:srgbClr val="5F66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3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22E623-E0FD-B819-07DC-89E444777D4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ARQUITECTURA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65A60-264C-ED8E-C822-E006444A7A13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Arquitectura JSP y JSPF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2E765-30CF-371E-F860-B3957BC91118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9766C-98F1-1878-62C7-81182293C626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65393-1ED3-07E4-C3AF-0EB4BDF0B58B}"/>
              </a:ext>
            </a:extLst>
          </p:cNvPr>
          <p:cNvSpPr txBox="1"/>
          <p:nvPr/>
        </p:nvSpPr>
        <p:spPr>
          <a:xfrm>
            <a:off x="698500" y="17780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200" b="1">
                <a:solidFill>
                  <a:srgbClr val="C96E4B"/>
                </a:solidFill>
                <a:latin typeface="Georgia" panose="02040502050405020303" pitchFamily="18" charset="0"/>
              </a:rPr>
              <a:t>Navegador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A847D-3BEA-F3FD-6EAD-0C00DA67C52A}"/>
              </a:ext>
            </a:extLst>
          </p:cNvPr>
          <p:cNvSpPr txBox="1"/>
          <p:nvPr/>
        </p:nvSpPr>
        <p:spPr>
          <a:xfrm>
            <a:off x="698500" y="2413000"/>
            <a:ext cx="2413000" cy="58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formularios GET y POST
sesión y token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4A23B-EA0A-4D50-7114-7EDB50F77276}"/>
              </a:ext>
            </a:extLst>
          </p:cNvPr>
          <p:cNvSpPr txBox="1"/>
          <p:nvPr/>
        </p:nvSpPr>
        <p:spPr>
          <a:xfrm>
            <a:off x="3492500" y="17780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200" b="1">
                <a:solidFill>
                  <a:srgbClr val="243B32"/>
                </a:solidFill>
                <a:latin typeface="Georgia" panose="02040502050405020303" pitchFamily="18" charset="0"/>
              </a:rPr>
              <a:t>Controlador JSP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CD7F0-6560-9FB3-04DE-29E5753EABEC}"/>
              </a:ext>
            </a:extLst>
          </p:cNvPr>
          <p:cNvSpPr txBox="1"/>
          <p:nvPr/>
        </p:nvSpPr>
        <p:spPr>
          <a:xfrm>
            <a:off x="3492500" y="2413000"/>
            <a:ext cx="2540000" cy="58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valida, autoriza y coordina
redirige después del POST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4BB91-A878-70BB-6A83-C28E6D53436F}"/>
              </a:ext>
            </a:extLst>
          </p:cNvPr>
          <p:cNvSpPr txBox="1"/>
          <p:nvPr/>
        </p:nvSpPr>
        <p:spPr>
          <a:xfrm>
            <a:off x="6667500" y="1778000"/>
            <a:ext cx="2349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200" b="1">
                <a:solidFill>
                  <a:srgbClr val="83946A"/>
                </a:solidFill>
                <a:latin typeface="Georgia" panose="02040502050405020303" pitchFamily="18" charset="0"/>
              </a:rPr>
              <a:t>Modelo JSPF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F7F9E-7139-F722-2493-7BCB94441B5C}"/>
              </a:ext>
            </a:extLst>
          </p:cNvPr>
          <p:cNvSpPr txBox="1"/>
          <p:nvPr/>
        </p:nvSpPr>
        <p:spPr>
          <a:xfrm>
            <a:off x="6667500" y="2413000"/>
            <a:ext cx="2349500" cy="848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1700">
                <a:solidFill>
                  <a:srgbClr val="252525"/>
                </a:solidFill>
                <a:latin typeface="Aptos" panose="020B0004020202020204" pitchFamily="34" charset="0"/>
              </a:rPr>
              <a:t>PreparedStatement
consultas y transacciones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91C33-2D0C-40D6-2C0E-47CD0303310A}"/>
              </a:ext>
            </a:extLst>
          </p:cNvPr>
          <p:cNvSpPr txBox="1"/>
          <p:nvPr/>
        </p:nvSpPr>
        <p:spPr>
          <a:xfrm>
            <a:off x="9525000" y="1778000"/>
            <a:ext cx="215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200" b="1">
                <a:solidFill>
                  <a:srgbClr val="C96E4B"/>
                </a:solidFill>
                <a:latin typeface="Georgia" panose="02040502050405020303" pitchFamily="18" charset="0"/>
              </a:rPr>
              <a:t>PostgreSQL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C8ACB-0A97-8473-5AD1-149E5BF88147}"/>
              </a:ext>
            </a:extLst>
          </p:cNvPr>
          <p:cNvSpPr txBox="1"/>
          <p:nvPr/>
        </p:nvSpPr>
        <p:spPr>
          <a:xfrm>
            <a:off x="9525000" y="2413000"/>
            <a:ext cx="2159000" cy="848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esquema inmobiliaria
restricciones y bloqueos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F3175-5285-E112-FB5E-953E4E508B79}"/>
              </a:ext>
            </a:extLst>
          </p:cNvPr>
          <p:cNvSpPr txBox="1"/>
          <p:nvPr/>
        </p:nvSpPr>
        <p:spPr>
          <a:xfrm>
            <a:off x="1524000" y="4064000"/>
            <a:ext cx="279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300" b="1">
                <a:solidFill>
                  <a:srgbClr val="243B32"/>
                </a:solidFill>
                <a:latin typeface="Georgia" panose="02040502050405020303" pitchFamily="18" charset="0"/>
              </a:rPr>
              <a:t>WEB-INF/vista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B0979-CB46-1962-3B73-A9BF2F76D7F7}"/>
              </a:ext>
            </a:extLst>
          </p:cNvPr>
          <p:cNvSpPr txBox="1"/>
          <p:nvPr/>
        </p:nvSpPr>
        <p:spPr>
          <a:xfrm>
            <a:off x="1524000" y="46482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1700">
                <a:solidFill>
                  <a:srgbClr val="252525"/>
                </a:solidFill>
                <a:latin typeface="Aptos" panose="020B0004020202020204" pitchFamily="34" charset="0"/>
              </a:rPr>
              <a:t>HTML escapado, Bootstrap local y CSS Habita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6FC7A-3385-98CF-CFAB-EE9606DA1B94}"/>
              </a:ext>
            </a:extLst>
          </p:cNvPr>
          <p:cNvSpPr txBox="1"/>
          <p:nvPr/>
        </p:nvSpPr>
        <p:spPr>
          <a:xfrm>
            <a:off x="4953000" y="4064000"/>
            <a:ext cx="279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300" b="1">
                <a:solidFill>
                  <a:srgbClr val="243B32"/>
                </a:solidFill>
                <a:latin typeface="Georgia" panose="02040502050405020303" pitchFamily="18" charset="0"/>
              </a:rPr>
              <a:t>WEB-INF/jspf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677D2-A81C-BCE0-6D66-172980353F04}"/>
              </a:ext>
            </a:extLst>
          </p:cNvPr>
          <p:cNvSpPr txBox="1"/>
          <p:nvPr/>
        </p:nvSpPr>
        <p:spPr>
          <a:xfrm>
            <a:off x="4953000" y="46482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conexión, utilidades, cabecera, pie y seguridad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A23CE-EECA-B401-1A78-BE690236CFFB}"/>
              </a:ext>
            </a:extLst>
          </p:cNvPr>
          <p:cNvSpPr txBox="1"/>
          <p:nvPr/>
        </p:nvSpPr>
        <p:spPr>
          <a:xfrm>
            <a:off x="8382000" y="4064000"/>
            <a:ext cx="228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300" b="1">
                <a:solidFill>
                  <a:srgbClr val="243B32"/>
                </a:solidFill>
                <a:latin typeface="Georgia" panose="02040502050405020303" pitchFamily="18" charset="0"/>
              </a:rPr>
              <a:t>WEB-INF/lib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22A836-0D69-5977-7DC5-FB895D482FD5}"/>
              </a:ext>
            </a:extLst>
          </p:cNvPr>
          <p:cNvSpPr txBox="1"/>
          <p:nvPr/>
        </p:nvSpPr>
        <p:spPr>
          <a:xfrm>
            <a:off x="8382000" y="46482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1700">
                <a:solidFill>
                  <a:srgbClr val="252525"/>
                </a:solidFill>
                <a:latin typeface="Aptos" panose="020B0004020202020204" pitchFamily="34" charset="0"/>
              </a:rPr>
              <a:t>Driver JDBC de PostgreSQL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AF0379-72CA-F521-2B61-43D84A5D601A}"/>
              </a:ext>
            </a:extLst>
          </p:cNvPr>
          <p:cNvSpPr txBox="1"/>
          <p:nvPr/>
        </p:nvSpPr>
        <p:spPr>
          <a:xfrm>
            <a:off x="584200" y="5969000"/>
            <a:ext cx="1092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600" b="1">
                <a:solidFill>
                  <a:srgbClr val="5F665F"/>
                </a:solidFill>
                <a:latin typeface="Aptos" panose="020B0004020202020204" pitchFamily="34" charset="0"/>
              </a:rPr>
              <a:t>La aplicación no define clases Java propias.</a:t>
            </a:r>
            <a:endParaRPr lang="es-CO" sz="1600" b="1">
              <a:solidFill>
                <a:srgbClr val="5F66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75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22304-8766-0ABE-04D6-13120D2B29A8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MÓDULOS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05FCE-55FF-D63E-D6AB-09E7EBC63885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Recorrido del cliente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A657C-82BE-01FD-7A95-6D3C27278370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65C65-DF0F-71B5-351B-31E3F1FA7B21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DC7D7-326A-2B44-98B1-05B4AFB07A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49" y="1422400"/>
            <a:ext cx="5011702" cy="3302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68C24B-64FC-697F-3532-9276EFA6F6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49" y="1422400"/>
            <a:ext cx="5011702" cy="3302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1C6CD7-45D9-4255-A8B3-9E3DAC697145}"/>
              </a:ext>
            </a:extLst>
          </p:cNvPr>
          <p:cNvSpPr txBox="1"/>
          <p:nvPr/>
        </p:nvSpPr>
        <p:spPr>
          <a:xfrm>
            <a:off x="584200" y="5080000"/>
            <a:ext cx="5080000" cy="13619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900">
                <a:solidFill>
                  <a:srgbClr val="252525"/>
                </a:solidFill>
                <a:latin typeface="Aptos" panose="020B0004020202020204" pitchFamily="34" charset="0"/>
              </a:rPr>
              <a:t>1. Busca y guarda favoritos
2. Agenda una visita futura
3. Radica una solicitud
4. Adjunta PDF y consulta estados</a:t>
            </a:r>
            <a:endParaRPr lang="es-CO" sz="19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6E694-453E-1E7B-C2FE-7B2264B0F6FF}"/>
              </a:ext>
            </a:extLst>
          </p:cNvPr>
          <p:cNvSpPr txBox="1"/>
          <p:nvPr/>
        </p:nvSpPr>
        <p:spPr>
          <a:xfrm>
            <a:off x="6350000" y="5207000"/>
            <a:ext cx="5207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 b="1">
                <a:solidFill>
                  <a:srgbClr val="243B32"/>
                </a:solidFill>
                <a:latin typeface="Georgia" panose="02040502050405020303" pitchFamily="18" charset="0"/>
              </a:rPr>
              <a:t>El cliente solo puede consultar y cambiar registros propios.</a:t>
            </a:r>
            <a:endParaRPr lang="es-CO" sz="2000" b="1">
              <a:solidFill>
                <a:srgbClr val="243B3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31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3CE73-0DA0-689E-2BE2-9F1BF6E9658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MÓDULOS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DE549-F615-AAB1-60B0-E42FBBC22BA2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Operación de la inmobiliaria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DB32B-D666-BB30-366F-B72E990663DB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66A9E-D1BB-2DC2-219F-78555DB84556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18801-F91C-BA87-F6EE-0846956B96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81" y="1397000"/>
            <a:ext cx="5300839" cy="34925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7AB784-B193-C447-3A2B-9F77E25CBF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580" y="1397000"/>
            <a:ext cx="5300839" cy="34925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AEAFF2-85DA-5E37-2ED3-C37901D7A0F6}"/>
              </a:ext>
            </a:extLst>
          </p:cNvPr>
          <p:cNvSpPr txBox="1"/>
          <p:nvPr/>
        </p:nvSpPr>
        <p:spPr>
          <a:xfrm>
            <a:off x="584200" y="5207000"/>
            <a:ext cx="508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900">
                <a:solidFill>
                  <a:srgbClr val="252525"/>
                </a:solidFill>
                <a:latin typeface="Aptos" panose="020B0004020202020204" pitchFamily="34" charset="0"/>
              </a:rPr>
              <a:t>Publica y retira sus inmuebles. Atiende citas. Revisa documentos y solicitudes.</a:t>
            </a:r>
            <a:endParaRPr lang="es-CO" sz="19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AF9A9-220D-88A7-0F65-928434FC5130}"/>
              </a:ext>
            </a:extLst>
          </p:cNvPr>
          <p:cNvSpPr txBox="1"/>
          <p:nvPr/>
        </p:nvSpPr>
        <p:spPr>
          <a:xfrm>
            <a:off x="6223000" y="5207000"/>
            <a:ext cx="5334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 b="1">
                <a:solidFill>
                  <a:srgbClr val="243B32"/>
                </a:solidFill>
                <a:latin typeface="Georgia" panose="02040502050405020303" pitchFamily="18" charset="0"/>
              </a:rPr>
              <a:t>El cierre cambia solicitud y propiedad dentro de una sola transacción.</a:t>
            </a:r>
            <a:endParaRPr lang="es-CO" sz="2000" b="1">
              <a:solidFill>
                <a:srgbClr val="243B3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78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9CF35-2541-0011-451D-D268D000052C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MÓDULOS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759D6-76DB-145B-F845-7CCF2442810C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Administración y trazabilidad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83AF1-6CA3-7C65-EFD0-34CE5F4656F4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F64A5-F367-A49D-CAE7-A796B11D3B82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4C8A6-9DD6-0EB2-4601-85AF7DA778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449576"/>
            <a:ext cx="5334000" cy="3514348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27678B-0934-4CD2-BCFE-F182EC00F6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449576"/>
            <a:ext cx="5334000" cy="3514348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CF4414-8BDE-D754-404E-E41686931CE4}"/>
              </a:ext>
            </a:extLst>
          </p:cNvPr>
          <p:cNvSpPr txBox="1"/>
          <p:nvPr/>
        </p:nvSpPr>
        <p:spPr>
          <a:xfrm>
            <a:off x="584200" y="5270500"/>
            <a:ext cx="533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000" b="1">
                <a:solidFill>
                  <a:srgbClr val="243B32"/>
                </a:solidFill>
                <a:latin typeface="Georgia" panose="02040502050405020303" pitchFamily="18" charset="0"/>
              </a:rPr>
              <a:t>Usuarios y roles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B2DF2-A1F8-75F9-010C-04085C6D9D1A}"/>
              </a:ext>
            </a:extLst>
          </p:cNvPr>
          <p:cNvSpPr txBox="1"/>
          <p:nvPr/>
        </p:nvSpPr>
        <p:spPr>
          <a:xfrm>
            <a:off x="584200" y="56896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600">
                <a:solidFill>
                  <a:srgbClr val="252525"/>
                </a:solidFill>
                <a:latin typeface="Aptos" panose="020B0004020202020204" pitchFamily="34" charset="0"/>
              </a:rPr>
              <a:t>El administrador activa cuentas, asigna roles y administra catálogos.</a:t>
            </a:r>
            <a:endParaRPr lang="es-CO" sz="16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D5D0E-5853-BD51-49F5-24915CF9FADA}"/>
              </a:ext>
            </a:extLst>
          </p:cNvPr>
          <p:cNvSpPr txBox="1"/>
          <p:nvPr/>
        </p:nvSpPr>
        <p:spPr>
          <a:xfrm>
            <a:off x="6223000" y="5270500"/>
            <a:ext cx="533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000" b="1">
                <a:solidFill>
                  <a:srgbClr val="243B32"/>
                </a:solidFill>
                <a:latin typeface="Georgia" panose="02040502050405020303" pitchFamily="18" charset="0"/>
              </a:rPr>
              <a:t>Auditoría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31461-37B9-C2E6-78C4-617882E29788}"/>
              </a:ext>
            </a:extLst>
          </p:cNvPr>
          <p:cNvSpPr txBox="1"/>
          <p:nvPr/>
        </p:nvSpPr>
        <p:spPr>
          <a:xfrm>
            <a:off x="6223000" y="56896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600">
                <a:solidFill>
                  <a:srgbClr val="252525"/>
                </a:solidFill>
                <a:latin typeface="Aptos" panose="020B0004020202020204" pitchFamily="34" charset="0"/>
              </a:rPr>
              <a:t>Los filtros consultan eventos reales por usuario, texto y rango de fechas.</a:t>
            </a:r>
            <a:endParaRPr lang="es-CO" sz="16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6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CAA94-EA60-C576-B979-A529E4DA51E8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COMPROBACIONES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1E888-29D8-EFCA-C96D-9A751D0DEC23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Validaciones y seguridad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BE3EC-6110-0106-C979-98D695C6A186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F1DA0-24CA-ABF4-FF05-69542B31CCB5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CEF0E-C499-62FD-4E3C-24D63E4BA33B}"/>
              </a:ext>
            </a:extLst>
          </p:cNvPr>
          <p:cNvSpPr txBox="1"/>
          <p:nvPr/>
        </p:nvSpPr>
        <p:spPr>
          <a:xfrm>
            <a:off x="698500" y="1524000"/>
            <a:ext cx="381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700" b="1">
                <a:solidFill>
                  <a:srgbClr val="C96E4B"/>
                </a:solidFill>
                <a:latin typeface="Georgia" panose="02040502050405020303" pitchFamily="18" charset="0"/>
              </a:rPr>
              <a:t>PBKDF2 con salt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83848-9FC9-13F3-7A57-B1967DA2C21C}"/>
              </a:ext>
            </a:extLst>
          </p:cNvPr>
          <p:cNvSpPr txBox="1"/>
          <p:nvPr/>
        </p:nvSpPr>
        <p:spPr>
          <a:xfrm>
            <a:off x="698500" y="20828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>
                <a:solidFill>
                  <a:srgbClr val="252525"/>
                </a:solidFill>
                <a:latin typeface="Aptos" panose="020B0004020202020204" pitchFamily="34" charset="0"/>
              </a:rPr>
              <a:t>Las contraseñas no se guardan en texto plano.</a:t>
            </a:r>
            <a:endParaRPr lang="es-CO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756B0-7626-B85C-5E67-3282D307F92A}"/>
              </a:ext>
            </a:extLst>
          </p:cNvPr>
          <p:cNvSpPr txBox="1"/>
          <p:nvPr/>
        </p:nvSpPr>
        <p:spPr>
          <a:xfrm>
            <a:off x="698500" y="3175000"/>
            <a:ext cx="444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700" b="1">
                <a:solidFill>
                  <a:srgbClr val="243B32"/>
                </a:solidFill>
                <a:latin typeface="Georgia" panose="02040502050405020303" pitchFamily="18" charset="0"/>
              </a:rPr>
              <a:t>Servidor y pertenencia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AC143-7FAD-3C97-56ED-3B72F3E43F80}"/>
              </a:ext>
            </a:extLst>
          </p:cNvPr>
          <p:cNvSpPr txBox="1"/>
          <p:nvPr/>
        </p:nvSpPr>
        <p:spPr>
          <a:xfrm>
            <a:off x="698500" y="37338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>
                <a:solidFill>
                  <a:srgbClr val="252525"/>
                </a:solidFill>
                <a:latin typeface="Aptos" panose="020B0004020202020204" pitchFamily="34" charset="0"/>
              </a:rPr>
              <a:t>PreparedStatement, token en POST, rol vigente y dueño del registro.</a:t>
            </a:r>
            <a:endParaRPr lang="es-CO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7223B-8F76-B39D-D9E8-6901683985CC}"/>
              </a:ext>
            </a:extLst>
          </p:cNvPr>
          <p:cNvSpPr txBox="1"/>
          <p:nvPr/>
        </p:nvSpPr>
        <p:spPr>
          <a:xfrm>
            <a:off x="698500" y="5105400"/>
            <a:ext cx="381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700" b="1">
                <a:solidFill>
                  <a:srgbClr val="83946A"/>
                </a:solidFill>
                <a:latin typeface="Georgia" panose="02040502050405020303" pitchFamily="18" charset="0"/>
              </a:rPr>
              <a:t>Archivos privados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BF00B-C653-EB64-B896-17A07BDA6E7A}"/>
              </a:ext>
            </a:extLst>
          </p:cNvPr>
          <p:cNvSpPr txBox="1"/>
          <p:nvPr/>
        </p:nvSpPr>
        <p:spPr>
          <a:xfrm>
            <a:off x="698500" y="5664200"/>
            <a:ext cx="4445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>
                <a:solidFill>
                  <a:srgbClr val="252525"/>
                </a:solidFill>
                <a:latin typeface="Aptos" panose="020B0004020202020204" pitchFamily="34" charset="0"/>
              </a:rPr>
              <a:t>Firma %PDF-, límite de 5 MB y descarga por controlador.</a:t>
            </a:r>
            <a:endParaRPr lang="es-CO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B4C96-DFFB-499F-40AC-CEC0EF7DEC97}"/>
              </a:ext>
            </a:extLst>
          </p:cNvPr>
          <p:cNvSpPr txBox="1"/>
          <p:nvPr/>
        </p:nvSpPr>
        <p:spPr>
          <a:xfrm>
            <a:off x="6540500" y="1714500"/>
            <a:ext cx="1905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4600" b="1">
                <a:solidFill>
                  <a:srgbClr val="C96E4B"/>
                </a:solidFill>
                <a:latin typeface="Georgia" panose="02040502050405020303" pitchFamily="18" charset="0"/>
              </a:rPr>
              <a:t>403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8AC1D-72B9-28B8-6658-1CDD35EE0B71}"/>
              </a:ext>
            </a:extLst>
          </p:cNvPr>
          <p:cNvSpPr txBox="1"/>
          <p:nvPr/>
        </p:nvSpPr>
        <p:spPr>
          <a:xfrm>
            <a:off x="6159500" y="2540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ID ajeno y rol no autorizado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27EEE-579D-1420-34FE-5AED5D0B519A}"/>
              </a:ext>
            </a:extLst>
          </p:cNvPr>
          <p:cNvSpPr txBox="1"/>
          <p:nvPr/>
        </p:nvSpPr>
        <p:spPr>
          <a:xfrm>
            <a:off x="9334500" y="1714500"/>
            <a:ext cx="1905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4600" b="1">
                <a:solidFill>
                  <a:srgbClr val="243B32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CCBE80-A9CC-66D1-59B0-DB39CD725251}"/>
              </a:ext>
            </a:extLst>
          </p:cNvPr>
          <p:cNvSpPr txBox="1"/>
          <p:nvPr/>
        </p:nvSpPr>
        <p:spPr>
          <a:xfrm>
            <a:off x="8953500" y="2540000"/>
            <a:ext cx="2667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cita activa por inmueble y hora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1C8501-0EE2-4407-4CA0-EBE51C35F056}"/>
              </a:ext>
            </a:extLst>
          </p:cNvPr>
          <p:cNvSpPr txBox="1"/>
          <p:nvPr/>
        </p:nvSpPr>
        <p:spPr>
          <a:xfrm>
            <a:off x="6540500" y="4000500"/>
            <a:ext cx="1905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4200" b="1">
                <a:solidFill>
                  <a:srgbClr val="83946A"/>
                </a:solidFill>
                <a:latin typeface="Georgia" panose="02040502050405020303" pitchFamily="18" charset="0"/>
              </a:rPr>
              <a:t>5 MB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CF26B-C34F-CAE7-3FBF-55D979BD91D7}"/>
              </a:ext>
            </a:extLst>
          </p:cNvPr>
          <p:cNvSpPr txBox="1"/>
          <p:nvPr/>
        </p:nvSpPr>
        <p:spPr>
          <a:xfrm>
            <a:off x="6159500" y="4826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1700">
                <a:solidFill>
                  <a:srgbClr val="252525"/>
                </a:solidFill>
                <a:latin typeface="Aptos" panose="020B0004020202020204" pitchFamily="34" charset="0"/>
              </a:rPr>
              <a:t>límite de documento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7B81D-B0DF-F800-A6F9-5A4EA3BAAB03}"/>
              </a:ext>
            </a:extLst>
          </p:cNvPr>
          <p:cNvSpPr txBox="1"/>
          <p:nvPr/>
        </p:nvSpPr>
        <p:spPr>
          <a:xfrm>
            <a:off x="9334500" y="4000500"/>
            <a:ext cx="1905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4200" b="1">
                <a:solidFill>
                  <a:srgbClr val="C96E4B"/>
                </a:solidFill>
                <a:latin typeface="Georgia" panose="02040502050405020303" pitchFamily="18" charset="0"/>
              </a:rPr>
              <a:t>5 min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6DD067-A477-16E6-C909-0248AEDB6D5B}"/>
              </a:ext>
            </a:extLst>
          </p:cNvPr>
          <p:cNvSpPr txBox="1"/>
          <p:nvPr/>
        </p:nvSpPr>
        <p:spPr>
          <a:xfrm>
            <a:off x="8953500" y="4826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1700">
                <a:solidFill>
                  <a:srgbClr val="252525"/>
                </a:solidFill>
                <a:latin typeface="Aptos" panose="020B0004020202020204" pitchFamily="34" charset="0"/>
              </a:rPr>
              <a:t>bloqueo tras cinco fallos</a:t>
            </a:r>
          </a:p>
        </p:txBody>
      </p:sp>
    </p:spTree>
    <p:extLst>
      <p:ext uri="{BB962C8B-B14F-4D97-AF65-F5344CB8AC3E}">
        <p14:creationId xmlns:p14="http://schemas.microsoft.com/office/powerpoint/2010/main" val="351966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9FAE1-F179-107D-7AF4-4E8C84B514D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CBFAD-55BA-59DD-E01E-EA8B6CBB70ED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Consultas y reportes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67B2C-D4D3-AA7C-5D97-F0EF2296F657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11ED3-ABE5-B0E5-000E-5BE765C3C739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EFF5D-7780-67B2-5AA4-67362812DF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" y="1371600"/>
            <a:ext cx="5204460" cy="3429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BE5740-984B-E359-3AFF-60672CB180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520" y="1371600"/>
            <a:ext cx="5204460" cy="3429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7998C2-4A6C-5E17-F645-C66D9B86C1F6}"/>
              </a:ext>
            </a:extLst>
          </p:cNvPr>
          <p:cNvSpPr txBox="1"/>
          <p:nvPr/>
        </p:nvSpPr>
        <p:spPr>
          <a:xfrm>
            <a:off x="584200" y="5016500"/>
            <a:ext cx="381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000" b="1">
                <a:solidFill>
                  <a:srgbClr val="243B32"/>
                </a:solidFill>
                <a:latin typeface="Georgia" panose="02040502050405020303" pitchFamily="18" charset="0"/>
              </a:rPr>
              <a:t>sql/04-consultas.sql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2185B-C52F-6C64-239F-FFE2BBE381D3}"/>
              </a:ext>
            </a:extLst>
          </p:cNvPr>
          <p:cNvSpPr txBox="1"/>
          <p:nvPr/>
        </p:nvSpPr>
        <p:spPr>
          <a:xfrm>
            <a:off x="584200" y="5435600"/>
            <a:ext cx="4191000" cy="9925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300">
                <a:solidFill>
                  <a:srgbClr val="252525"/>
                </a:solidFill>
                <a:latin typeface="Aptos" panose="020B0004020202020204" pitchFamily="34" charset="0"/>
              </a:rPr>
              <a:t>2 INNER JOIN de tres o más tablas
1 N:M
1 LEFT JOIN
1 GROUP BY con HAVING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69422-2E93-81FF-C102-C0BF09BCB724}"/>
              </a:ext>
            </a:extLst>
          </p:cNvPr>
          <p:cNvSpPr txBox="1"/>
          <p:nvPr/>
        </p:nvSpPr>
        <p:spPr>
          <a:xfrm>
            <a:off x="6604000" y="5143500"/>
            <a:ext cx="304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000" b="1">
                <a:solidFill>
                  <a:srgbClr val="243B32"/>
                </a:solidFill>
                <a:latin typeface="Georgia" panose="02040502050405020303" pitchFamily="18" charset="0"/>
              </a:rPr>
              <a:t>Filas devueltas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F463-6528-2BB5-34B4-354276DBD090}"/>
              </a:ext>
            </a:extLst>
          </p:cNvPr>
          <p:cNvSpPr txBox="1"/>
          <p:nvPr/>
        </p:nvSpPr>
        <p:spPr>
          <a:xfrm>
            <a:off x="6604000" y="56769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400" b="1">
                <a:solidFill>
                  <a:srgbClr val="C96E4B"/>
                </a:solidFill>
                <a:latin typeface="Aptos" panose="020B0004020202020204" pitchFamily="34" charset="0"/>
              </a:rPr>
              <a:t>20 · 15 · 15 · 30 · 5 · 4 · 4</a:t>
            </a:r>
          </a:p>
        </p:txBody>
      </p:sp>
    </p:spTree>
    <p:extLst>
      <p:ext uri="{BB962C8B-B14F-4D97-AF65-F5344CB8AC3E}">
        <p14:creationId xmlns:p14="http://schemas.microsoft.com/office/powerpoint/2010/main" val="212077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55A03E-EBCB-379B-CD67-17CA6BE89B18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INTERFAZ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1E243-E46F-F0DD-FDAE-303DEF8CCE42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Diseño responsivo comprobado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23670-8868-F9EA-08B4-CEA1F0CFF590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F2311-A0EB-659C-CDDC-7C022BDDBDF6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E3062B-20B9-B3A7-29DE-BF12A4D9C1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15" y="1333500"/>
            <a:ext cx="2053969" cy="4445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109AEC-59A8-332A-30AA-FDBECC4224D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0" y="1481667"/>
            <a:ext cx="3111500" cy="4148667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A5D45B-66E9-6418-1F3E-FD9E9C804E9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0" y="2279957"/>
            <a:ext cx="3873500" cy="2552086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41AF5C-2A32-FB0B-A2C3-B452BB8F5E0C}"/>
              </a:ext>
            </a:extLst>
          </p:cNvPr>
          <p:cNvSpPr txBox="1"/>
          <p:nvPr/>
        </p:nvSpPr>
        <p:spPr>
          <a:xfrm>
            <a:off x="698500" y="5969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b="1">
                <a:solidFill>
                  <a:srgbClr val="243B32"/>
                </a:solidFill>
                <a:latin typeface="Aptos" panose="020B0004020202020204" pitchFamily="34" charset="0"/>
              </a:rPr>
              <a:t>390 px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405F6-906C-DD09-1CCE-8AB8766759CD}"/>
              </a:ext>
            </a:extLst>
          </p:cNvPr>
          <p:cNvSpPr txBox="1"/>
          <p:nvPr/>
        </p:nvSpPr>
        <p:spPr>
          <a:xfrm>
            <a:off x="3873500" y="59690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b="1">
                <a:solidFill>
                  <a:srgbClr val="243B32"/>
                </a:solidFill>
                <a:latin typeface="Aptos" panose="020B0004020202020204" pitchFamily="34" charset="0"/>
              </a:rPr>
              <a:t>768 px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38F445-15F0-401B-3F40-3B58B692458E}"/>
              </a:ext>
            </a:extLst>
          </p:cNvPr>
          <p:cNvSpPr txBox="1"/>
          <p:nvPr/>
        </p:nvSpPr>
        <p:spPr>
          <a:xfrm>
            <a:off x="7683500" y="59690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b="1">
                <a:solidFill>
                  <a:srgbClr val="243B32"/>
                </a:solidFill>
                <a:latin typeface="Aptos" panose="020B0004020202020204" pitchFamily="34" charset="0"/>
              </a:rPr>
              <a:t>1366 px</a:t>
            </a:r>
          </a:p>
        </p:txBody>
      </p:sp>
    </p:spTree>
    <p:extLst>
      <p:ext uri="{BB962C8B-B14F-4D97-AF65-F5344CB8AC3E}">
        <p14:creationId xmlns:p14="http://schemas.microsoft.com/office/powerpoint/2010/main" val="211734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974EA-FAA1-80EE-C316-3BE07FBE057B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B9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3DA4D-0653-CE7C-6ADA-20FE7D7FEFCC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Resultado de integración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76CAC-1B6D-FDFB-7A5E-E1FFA2BA67A4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5500B-D9BD-950E-B574-957DEA75E37B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EC3679-8790-D6EB-7A9D-981F2AB8B797}"/>
              </a:ext>
            </a:extLst>
          </p:cNvPr>
          <p:cNvSpPr txBox="1"/>
          <p:nvPr/>
        </p:nvSpPr>
        <p:spPr>
          <a:xfrm>
            <a:off x="698500" y="1714500"/>
            <a:ext cx="3810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6400" b="1">
                <a:solidFill>
                  <a:srgbClr val="C96E4B"/>
                </a:solidFill>
                <a:latin typeface="Georgia" panose="02040502050405020303" pitchFamily="18" charset="0"/>
              </a:rPr>
              <a:t>30/30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3B7B2-6F75-B777-A1F5-362B30659E7A}"/>
              </a:ext>
            </a:extLst>
          </p:cNvPr>
          <p:cNvSpPr txBox="1"/>
          <p:nvPr/>
        </p:nvSpPr>
        <p:spPr>
          <a:xfrm>
            <a:off x="698500" y="28575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400" b="1">
                <a:solidFill>
                  <a:srgbClr val="243B32"/>
                </a:solidFill>
                <a:latin typeface="Aptos" panose="020B0004020202020204" pitchFamily="34" charset="0"/>
              </a:rPr>
              <a:t>casos aprobados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40665-9AF9-BD64-FAC2-BB6F35DB8657}"/>
              </a:ext>
            </a:extLst>
          </p:cNvPr>
          <p:cNvSpPr txBox="1"/>
          <p:nvPr/>
        </p:nvSpPr>
        <p:spPr>
          <a:xfrm>
            <a:off x="5461000" y="1524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400" b="1">
                <a:solidFill>
                  <a:srgbClr val="243B32"/>
                </a:solidFill>
                <a:latin typeface="Georgia" panose="02040502050405020303" pitchFamily="18" charset="0"/>
              </a:rPr>
              <a:t>Concurrencia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D7302-6772-407D-5A2B-E496C2B7AA8A}"/>
              </a:ext>
            </a:extLst>
          </p:cNvPr>
          <p:cNvSpPr txBox="1"/>
          <p:nvPr/>
        </p:nvSpPr>
        <p:spPr>
          <a:xfrm>
            <a:off x="5461000" y="2057400"/>
            <a:ext cx="5461000" cy="6181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>
                <a:solidFill>
                  <a:srgbClr val="252525"/>
                </a:solidFill>
                <a:latin typeface="Aptos" panose="020B0004020202020204" pitchFamily="34" charset="0"/>
              </a:rPr>
              <a:t>Una cita activa en el mismo horario.
Un cierre efectivo para la misma solicitud.</a:t>
            </a:r>
            <a:endParaRPr lang="es-CO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F9061-8A08-5200-3BF2-8BC176449B42}"/>
              </a:ext>
            </a:extLst>
          </p:cNvPr>
          <p:cNvSpPr txBox="1"/>
          <p:nvPr/>
        </p:nvSpPr>
        <p:spPr>
          <a:xfrm>
            <a:off x="5461000" y="3429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400" b="1">
                <a:solidFill>
                  <a:srgbClr val="243B32"/>
                </a:solidFill>
                <a:latin typeface="Georgia" panose="02040502050405020303" pitchFamily="18" charset="0"/>
              </a:rPr>
              <a:t>Documentos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92A5B-ED52-1B6F-E890-2C75F8E45A1D}"/>
              </a:ext>
            </a:extLst>
          </p:cNvPr>
          <p:cNvSpPr txBox="1"/>
          <p:nvPr/>
        </p:nvSpPr>
        <p:spPr>
          <a:xfrm>
            <a:off x="5461000" y="3962400"/>
            <a:ext cx="5461000" cy="6181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>
                <a:solidFill>
                  <a:srgbClr val="252525"/>
                </a:solidFill>
                <a:latin typeface="Aptos" panose="020B0004020202020204" pitchFamily="34" charset="0"/>
              </a:rPr>
              <a:t>Autorizados: 200 application/pdf.
Ajenos: 403. Ruta WEB-INF: 404.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98CCE-2F27-D58B-E5BF-406F1252F52B}"/>
              </a:ext>
            </a:extLst>
          </p:cNvPr>
          <p:cNvSpPr txBox="1"/>
          <p:nvPr/>
        </p:nvSpPr>
        <p:spPr>
          <a:xfrm>
            <a:off x="5461000" y="50165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400" b="1">
                <a:solidFill>
                  <a:srgbClr val="243B32"/>
                </a:solidFill>
                <a:latin typeface="Georgia" panose="02040502050405020303" pitchFamily="18" charset="0"/>
              </a:rPr>
              <a:t>Limpieza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766F1-38D4-6043-9B61-829E805FBBCD}"/>
              </a:ext>
            </a:extLst>
          </p:cNvPr>
          <p:cNvSpPr txBox="1"/>
          <p:nvPr/>
        </p:nvSpPr>
        <p:spPr>
          <a:xfrm>
            <a:off x="5461000" y="55626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>
                <a:solidFill>
                  <a:srgbClr val="252525"/>
                </a:solidFill>
                <a:latin typeface="Aptos" panose="020B0004020202020204" pitchFamily="34" charset="0"/>
              </a:rPr>
              <a:t>Los conteos volvieron a 21 · 20 · 15 · 15 · 20 · 10.</a:t>
            </a:r>
            <a:endParaRPr lang="es-CO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7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E58FB-EFD0-1F08-422D-FA310388679E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PROCESO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C6C9C-328F-6694-E6A9-2DFBE44FB781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Scrum: planificación y evidencia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5D306-D047-CE90-9DFF-BEDA4BF820F7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5FF07-74A5-BC59-1582-065A202C9DC8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CF1EC-9B93-B574-DD81-C0A9E848499C}"/>
              </a:ext>
            </a:extLst>
          </p:cNvPr>
          <p:cNvSpPr txBox="1"/>
          <p:nvPr/>
        </p:nvSpPr>
        <p:spPr>
          <a:xfrm>
            <a:off x="698500" y="1524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243B32"/>
                </a:solidFill>
                <a:latin typeface="Georgia" panose="02040502050405020303" pitchFamily="18" charset="0"/>
              </a:rPr>
              <a:t>Plan previsto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7669D-A512-A43D-0001-87026BD8F92C}"/>
              </a:ext>
            </a:extLst>
          </p:cNvPr>
          <p:cNvSpPr txBox="1"/>
          <p:nvPr/>
        </p:nvSpPr>
        <p:spPr>
          <a:xfrm>
            <a:off x="698500" y="2159000"/>
            <a:ext cx="4191000" cy="105157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252525"/>
                </a:solidFill>
                <a:latin typeface="Aptos" panose="020B0004020202020204" pitchFamily="34" charset="0"/>
              </a:rPr>
              <a:t>Sprint 1 · base y acceso
Sprint 2 · núcleo del negocio
Sprint 3 · operación y cierre</a:t>
            </a:r>
            <a:endParaRPr lang="es-CO" sz="20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D7EBA-7B62-2C47-DC65-058FBDF9C729}"/>
              </a:ext>
            </a:extLst>
          </p:cNvPr>
          <p:cNvSpPr txBox="1"/>
          <p:nvPr/>
        </p:nvSpPr>
        <p:spPr>
          <a:xfrm>
            <a:off x="5207000" y="1524000"/>
            <a:ext cx="381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243B32"/>
                </a:solidFill>
                <a:latin typeface="Georgia" panose="02040502050405020303" pitchFamily="18" charset="0"/>
              </a:rPr>
              <a:t>Evidencia disponible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2BFC2-7A02-190F-A582-8A943CF3A599}"/>
              </a:ext>
            </a:extLst>
          </p:cNvPr>
          <p:cNvSpPr txBox="1"/>
          <p:nvPr/>
        </p:nvSpPr>
        <p:spPr>
          <a:xfrm>
            <a:off x="5207000" y="2159000"/>
            <a:ext cx="5461000" cy="14234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252525"/>
                </a:solidFill>
                <a:latin typeface="Aptos" panose="020B0004020202020204" pitchFamily="34" charset="0"/>
              </a:rPr>
              <a:t>28 commits o merges
14 al 16 de septiembre de 2026
Rama específica y merge de B8
Planificación y README por bloques</a:t>
            </a:r>
            <a:endParaRPr lang="es-CO" sz="20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6EDBDD-CD2D-212E-DAC2-165683493CA2}"/>
              </a:ext>
            </a:extLst>
          </p:cNvPr>
          <p:cNvSpPr txBox="1"/>
          <p:nvPr/>
        </p:nvSpPr>
        <p:spPr>
          <a:xfrm>
            <a:off x="698500" y="4445000"/>
            <a:ext cx="381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C96E4B"/>
                </a:solidFill>
                <a:latin typeface="Georgia" panose="02040502050405020303" pitchFamily="18" charset="0"/>
              </a:rPr>
              <a:t>Brecha documentada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BA7AD-1E13-77D5-E22D-9A6E553F2B90}"/>
              </a:ext>
            </a:extLst>
          </p:cNvPr>
          <p:cNvSpPr txBox="1"/>
          <p:nvPr/>
        </p:nvSpPr>
        <p:spPr>
          <a:xfrm>
            <a:off x="698500" y="5080000"/>
            <a:ext cx="10033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252525"/>
                </a:solidFill>
                <a:latin typeface="Aptos" panose="020B0004020202020204" pitchFamily="34" charset="0"/>
              </a:rPr>
              <a:t>No hay actas suficientes de planning, review y retrospectiva para demostrar tres sprints reales de siete días. La entrega no inventa reuniones.</a:t>
            </a:r>
            <a:endParaRPr lang="es-CO" sz="20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0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8CA36-5CC1-2229-1420-185C16E3323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DESPLIEGUE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AEA7A-1C41-6CAB-4DF2-C8F2CF30A357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Ejecución local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E2B74-E1B9-4FCF-9721-5F6236C75CDC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04EF8-F572-4F28-98BA-9F6B7BB3744E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A777F-188A-AC1C-4C5B-ABD2AF07BD50}"/>
              </a:ext>
            </a:extLst>
          </p:cNvPr>
          <p:cNvSpPr txBox="1"/>
          <p:nvPr/>
        </p:nvSpPr>
        <p:spPr>
          <a:xfrm>
            <a:off x="698500" y="1524000"/>
            <a:ext cx="50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3000" b="1">
                <a:solidFill>
                  <a:srgbClr val="C96E4B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8E3C1-C540-2992-0CFA-B37F41F4E689}"/>
              </a:ext>
            </a:extLst>
          </p:cNvPr>
          <p:cNvSpPr txBox="1"/>
          <p:nvPr/>
        </p:nvSpPr>
        <p:spPr>
          <a:xfrm>
            <a:off x="1397000" y="15494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100" b="1">
                <a:solidFill>
                  <a:srgbClr val="252525"/>
                </a:solidFill>
                <a:latin typeface="Aptos" panose="020B0004020202020204" pitchFamily="34" charset="0"/>
              </a:rPr>
              <a:t>Crear proyectojava en PostgreSQL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4AF99-C6CD-C7F4-0AB9-B563AEB4C386}"/>
              </a:ext>
            </a:extLst>
          </p:cNvPr>
          <p:cNvSpPr txBox="1"/>
          <p:nvPr/>
        </p:nvSpPr>
        <p:spPr>
          <a:xfrm>
            <a:off x="698500" y="2540000"/>
            <a:ext cx="50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3000" b="1">
                <a:solidFill>
                  <a:srgbClr val="C96E4B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9911C-8280-1B78-1D74-0FF8A1DC986E}"/>
              </a:ext>
            </a:extLst>
          </p:cNvPr>
          <p:cNvSpPr txBox="1"/>
          <p:nvPr/>
        </p:nvSpPr>
        <p:spPr>
          <a:xfrm>
            <a:off x="1397000" y="25654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100" b="1">
                <a:solidFill>
                  <a:srgbClr val="252525"/>
                </a:solidFill>
                <a:latin typeface="Aptos" panose="020B0004020202020204" pitchFamily="34" charset="0"/>
              </a:rPr>
              <a:t>Ejecutar 01, 02 y 03 en orden</a:t>
            </a:r>
            <a:endParaRPr lang="es-CO" sz="2100" b="1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F6E2D-A4DE-05B2-C000-E7708CAFF224}"/>
              </a:ext>
            </a:extLst>
          </p:cNvPr>
          <p:cNvSpPr txBox="1"/>
          <p:nvPr/>
        </p:nvSpPr>
        <p:spPr>
          <a:xfrm>
            <a:off x="698500" y="3556000"/>
            <a:ext cx="50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3000" b="1">
                <a:solidFill>
                  <a:srgbClr val="C96E4B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FEF9C-DAE9-BA42-4AC3-6BE8D91C1BE6}"/>
              </a:ext>
            </a:extLst>
          </p:cNvPr>
          <p:cNvSpPr txBox="1"/>
          <p:nvPr/>
        </p:nvSpPr>
        <p:spPr>
          <a:xfrm>
            <a:off x="1397000" y="3581400"/>
            <a:ext cx="457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100" b="1">
                <a:solidFill>
                  <a:srgbClr val="252525"/>
                </a:solidFill>
                <a:latin typeface="Aptos" panose="020B0004020202020204" pitchFamily="34" charset="0"/>
              </a:rPr>
              <a:t>Copiar conexion.jspf.ejemplo y completar la clave</a:t>
            </a:r>
            <a:endParaRPr lang="es-CO" sz="2100" b="1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A376D-9E96-CFB6-ED81-E4B5F2C5A454}"/>
              </a:ext>
            </a:extLst>
          </p:cNvPr>
          <p:cNvSpPr txBox="1"/>
          <p:nvPr/>
        </p:nvSpPr>
        <p:spPr>
          <a:xfrm>
            <a:off x="698500" y="4826000"/>
            <a:ext cx="50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3000" b="1">
                <a:solidFill>
                  <a:srgbClr val="C96E4B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EB39E-457E-5DAC-A286-E2657D49E4F7}"/>
              </a:ext>
            </a:extLst>
          </p:cNvPr>
          <p:cNvSpPr txBox="1"/>
          <p:nvPr/>
        </p:nvSpPr>
        <p:spPr>
          <a:xfrm>
            <a:off x="1397000" y="4851400"/>
            <a:ext cx="457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100" b="1">
                <a:solidFill>
                  <a:srgbClr val="252525"/>
                </a:solidFill>
                <a:latin typeface="Aptos" panose="020B0004020202020204" pitchFamily="34" charset="0"/>
              </a:rPr>
              <a:t>Copiar a webapps, iniciar Tomcat y abrir localhost:8080</a:t>
            </a:r>
            <a:endParaRPr lang="es-CO" sz="2100" b="1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35F1EB-DCF8-6418-0997-4F2E1FC327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5" y="1333500"/>
            <a:ext cx="3524250" cy="4699000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</p:spTree>
    <p:extLst>
      <p:ext uri="{BB962C8B-B14F-4D97-AF65-F5344CB8AC3E}">
        <p14:creationId xmlns:p14="http://schemas.microsoft.com/office/powerpoint/2010/main" val="208502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D13F7B-B9F7-D279-6C14-6DB091368AC1}"/>
              </a:ext>
            </a:extLst>
          </p:cNvPr>
          <p:cNvSpPr txBox="1"/>
          <p:nvPr/>
        </p:nvSpPr>
        <p:spPr>
          <a:xfrm>
            <a:off x="584200" y="3175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100" b="1">
                <a:solidFill>
                  <a:srgbClr val="C96E4B"/>
                </a:solidFill>
                <a:latin typeface="Aptos" panose="020B0004020202020204" pitchFamily="34" charset="0"/>
              </a:rPr>
              <a:t>PENDIENTES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E724E-988E-DC1E-6569-301A3D315D0E}"/>
              </a:ext>
            </a:extLst>
          </p:cNvPr>
          <p:cNvSpPr txBox="1"/>
          <p:nvPr/>
        </p:nvSpPr>
        <p:spPr>
          <a:xfrm>
            <a:off x="584200" y="609600"/>
            <a:ext cx="11049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900" b="1">
                <a:solidFill>
                  <a:srgbClr val="243B32"/>
                </a:solidFill>
                <a:latin typeface="Georgia" panose="02040502050405020303" pitchFamily="18" charset="0"/>
              </a:rPr>
              <a:t>Decisiones antes de publicar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82691-D44F-0DF3-B329-6515CFE2CDC6}"/>
              </a:ext>
            </a:extLst>
          </p:cNvPr>
          <p:cNvSpPr txBox="1"/>
          <p:nvPr/>
        </p:nvSpPr>
        <p:spPr>
          <a:xfrm>
            <a:off x="584200" y="6540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Proyecto académico · B9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28602-DE55-E4C7-0036-AEB48CE8EA70}"/>
              </a:ext>
            </a:extLst>
          </p:cNvPr>
          <p:cNvSpPr txBox="1"/>
          <p:nvPr/>
        </p:nvSpPr>
        <p:spPr>
          <a:xfrm>
            <a:off x="11112500" y="65405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lang="es-CO" sz="900">
                <a:solidFill>
                  <a:srgbClr val="5F665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7FA4D-E5A0-D912-1026-A905C4F4327F}"/>
              </a:ext>
            </a:extLst>
          </p:cNvPr>
          <p:cNvSpPr txBox="1"/>
          <p:nvPr/>
        </p:nvSpPr>
        <p:spPr>
          <a:xfrm>
            <a:off x="698500" y="1524000"/>
            <a:ext cx="2921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C96E4B"/>
                </a:solidFill>
                <a:latin typeface="Georgia" panose="02040502050405020303" pitchFamily="18" charset="0"/>
              </a:rPr>
              <a:t>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AED75-E0AD-EC57-C0B6-6DF89C53ACB1}"/>
              </a:ext>
            </a:extLst>
          </p:cNvPr>
          <p:cNvSpPr txBox="1"/>
          <p:nvPr/>
        </p:nvSpPr>
        <p:spPr>
          <a:xfrm>
            <a:off x="698500" y="20066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El parcial lo exige. Hoy se usa seguridad.jspf en cada controlador privado.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66791-31D7-4C83-CA78-CD4506C0DCB8}"/>
              </a:ext>
            </a:extLst>
          </p:cNvPr>
          <p:cNvSpPr txBox="1"/>
          <p:nvPr/>
        </p:nvSpPr>
        <p:spPr>
          <a:xfrm>
            <a:off x="698500" y="3429000"/>
            <a:ext cx="2921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C96E4B"/>
                </a:solidFill>
                <a:latin typeface="Georgia" panose="02040502050405020303" pitchFamily="18" charset="0"/>
              </a:rPr>
              <a:t>Credenciales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FDB29-BD8E-716A-A463-C0972A484F8C}"/>
              </a:ext>
            </a:extLst>
          </p:cNvPr>
          <p:cNvSpPr txBox="1"/>
          <p:nvPr/>
        </p:nvSpPr>
        <p:spPr>
          <a:xfrm>
            <a:off x="698500" y="3911600"/>
            <a:ext cx="444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Cambiar Admin123 y mantener secretos fuera del repositorio.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58EF2-DD99-E54B-BF7A-4BB0229EB94A}"/>
              </a:ext>
            </a:extLst>
          </p:cNvPr>
          <p:cNvSpPr txBox="1"/>
          <p:nvPr/>
        </p:nvSpPr>
        <p:spPr>
          <a:xfrm>
            <a:off x="698500" y="5207000"/>
            <a:ext cx="2921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C96E4B"/>
                </a:solidFill>
                <a:latin typeface="Georgia" panose="02040502050405020303" pitchFamily="18" charset="0"/>
              </a:rPr>
              <a:t>Diagnóstico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AD91E-8DD2-55D5-162D-B6EB3CCA51D7}"/>
              </a:ext>
            </a:extLst>
          </p:cNvPr>
          <p:cNvSpPr txBox="1"/>
          <p:nvPr/>
        </p:nvSpPr>
        <p:spPr>
          <a:xfrm>
            <a:off x="698500" y="5689600"/>
            <a:ext cx="444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700">
                <a:solidFill>
                  <a:srgbClr val="252525"/>
                </a:solidFill>
                <a:latin typeface="Aptos" panose="020B0004020202020204" pitchFamily="34" charset="0"/>
              </a:rPr>
              <a:t>Retirar o limitar las tres páginas de prueba.</a:t>
            </a:r>
            <a:endParaRPr lang="es-CO" sz="17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F71B5-D9EF-CEB0-D847-956A9094F4A0}"/>
              </a:ext>
            </a:extLst>
          </p:cNvPr>
          <p:cNvSpPr txBox="1"/>
          <p:nvPr/>
        </p:nvSpPr>
        <p:spPr>
          <a:xfrm>
            <a:off x="6350000" y="1524000"/>
            <a:ext cx="355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2500" b="1">
                <a:solidFill>
                  <a:srgbClr val="243B32"/>
                </a:solidFill>
                <a:latin typeface="Georgia" panose="02040502050405020303" pitchFamily="18" charset="0"/>
              </a:rPr>
              <a:t>Requisitos externos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854F7-D339-9508-CEF7-74215A77545E}"/>
              </a:ext>
            </a:extLst>
          </p:cNvPr>
          <p:cNvSpPr txBox="1"/>
          <p:nvPr/>
        </p:nvSpPr>
        <p:spPr>
          <a:xfrm>
            <a:off x="6350000" y="2159000"/>
            <a:ext cx="4445000" cy="14234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000">
                <a:solidFill>
                  <a:srgbClr val="252525"/>
                </a:solidFill>
                <a:latin typeface="Aptos" panose="020B0004020202020204" pitchFamily="34" charset="0"/>
              </a:rPr>
              <a:t>• Instancia PostgreSQL en línea
• Despliegue web opcional
• Evidencia mínima de JavaScript
• Tablero y ceremonias Scrum reales</a:t>
            </a:r>
            <a:endParaRPr lang="es-CO" sz="2000">
              <a:solidFill>
                <a:srgbClr val="25252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59B56-9E2F-754A-02FB-04C11DD5D70C}"/>
              </a:ext>
            </a:extLst>
          </p:cNvPr>
          <p:cNvSpPr txBox="1"/>
          <p:nvPr/>
        </p:nvSpPr>
        <p:spPr>
          <a:xfrm>
            <a:off x="6350000" y="4851400"/>
            <a:ext cx="44450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1900" b="1">
                <a:solidFill>
                  <a:srgbClr val="5F665F"/>
                </a:solidFill>
                <a:latin typeface="Aptos" panose="020B0004020202020204" pitchFamily="34" charset="0"/>
              </a:rPr>
              <a:t>B9 propone la resolución. No aplica cambios sin decisión del coordinador o del profesor.</a:t>
            </a:r>
            <a:endParaRPr lang="es-CO" sz="1900" b="1">
              <a:solidFill>
                <a:srgbClr val="5F665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43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EC4C0-D04E-1830-3F14-8E969D766158}"/>
              </a:ext>
            </a:extLst>
          </p:cNvPr>
          <p:cNvSpPr txBox="1"/>
          <p:nvPr/>
        </p:nvSpPr>
        <p:spPr>
          <a:xfrm>
            <a:off x="698500" y="8890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1300" b="1">
                <a:solidFill>
                  <a:srgbClr val="C96E4B"/>
                </a:solidFill>
                <a:latin typeface="Aptos" panose="020B0004020202020204" pitchFamily="34" charset="0"/>
              </a:rPr>
              <a:t>HABITA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F2DCD-8E4F-827E-AA95-79F433FE642D}"/>
              </a:ext>
            </a:extLst>
          </p:cNvPr>
          <p:cNvSpPr txBox="1"/>
          <p:nvPr/>
        </p:nvSpPr>
        <p:spPr>
          <a:xfrm>
            <a:off x="698500" y="1397000"/>
            <a:ext cx="6858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CO" sz="3800" b="1">
                <a:solidFill>
                  <a:srgbClr val="FFFDF8"/>
                </a:solidFill>
                <a:latin typeface="Georgia" panose="02040502050405020303" pitchFamily="18" charset="0"/>
              </a:rPr>
              <a:t>Guion de sustentación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19350-9F7C-2F2C-69CC-0CD37AE84BB4}"/>
              </a:ext>
            </a:extLst>
          </p:cNvPr>
          <p:cNvSpPr txBox="1"/>
          <p:nvPr/>
        </p:nvSpPr>
        <p:spPr>
          <a:xfrm>
            <a:off x="698500" y="2667000"/>
            <a:ext cx="4826000" cy="21031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s-ES" sz="2400">
                <a:solidFill>
                  <a:srgbClr val="E8D8C4"/>
                </a:solidFill>
                <a:latin typeface="Aptos" panose="020B0004020202020204" pitchFamily="34" charset="0"/>
              </a:rPr>
              <a:t>1. Modelo y relaciones
2. Arquitectura JSP/JSPF
3. Recorrido por roles
4. Transacciones y seguridad
5. Reportes, pruebas y pendientes</a:t>
            </a:r>
            <a:endParaRPr lang="es-CO" sz="2400">
              <a:solidFill>
                <a:srgbClr val="E8D8C4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61DA0-903C-9D4E-40FC-1DF134BC5B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607582"/>
            <a:ext cx="5143500" cy="3388836"/>
          </a:xfrm>
          <a:prstGeom prst="rect">
            <a:avLst/>
          </a:prstGeom>
          <a:ln w="9525">
            <a:solidFill>
              <a:srgbClr val="E8D8C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7CCD2-65F5-2963-2BC3-04D037334B27}"/>
              </a:ext>
            </a:extLst>
          </p:cNvPr>
          <p:cNvSpPr txBox="1"/>
          <p:nvPr/>
        </p:nvSpPr>
        <p:spPr>
          <a:xfrm>
            <a:off x="6350000" y="5969000"/>
            <a:ext cx="5143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s-CO" sz="2000" b="1">
                <a:solidFill>
                  <a:srgbClr val="FFFDF8"/>
                </a:solidFill>
                <a:latin typeface="Georgia" panose="02040502050405020303" pitchFamily="18" charset="0"/>
              </a:rPr>
              <a:t>Encuentra tu próximo espacio</a:t>
            </a:r>
          </a:p>
        </p:txBody>
      </p:sp>
    </p:spTree>
    <p:extLst>
      <p:ext uri="{BB962C8B-B14F-4D97-AF65-F5344CB8AC3E}">
        <p14:creationId xmlns:p14="http://schemas.microsoft.com/office/powerpoint/2010/main" val="225974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PresentationFormat>Custom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Helver Rincon</dc:creator>
  <cp:lastModifiedBy>Helver Rincon</cp:lastModifiedBy>
  <cp:revision>1</cp:revision>
  <dcterms:created xsi:type="dcterms:W3CDTF">2026-09-16T17:02:06Z</dcterms:created>
  <dcterms:modified xsi:type="dcterms:W3CDTF">2026-09-16T17:02:06Z</dcterms:modified>
</cp:coreProperties>
</file>